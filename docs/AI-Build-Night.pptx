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5:00-5:20 - DOORS. Leave this slide up while people arrive.</a:t>
            </a:r>
          </a:p>
          <a:p>
            <a:r>
              <a:t>Becky at the door, Jordan on photos and name tags.</a:t>
            </a:r>
          </a:p>
          <a:p>
            <a:r>
              <a:t>Quinntyne floats and starts learning who wants to build what -- this is quiet</a:t>
            </a:r>
          </a:p>
          <a:p>
            <a:r>
              <a:t>Discover work, and it makes the 6:05 team-forming much faster.</a:t>
            </a:r>
          </a:p>
          <a:p>
            <a:r>
              <a:t>Snacks and drinks out from 5:00 (cooler). Raffle bowl by the door -- names in</a:t>
            </a:r>
          </a:p>
          <a:p>
            <a:r>
              <a:t>now, drawn at 8:50.</a:t>
            </a:r>
          </a:p>
          <a:p>
            <a:r>
              <a:t>Anyone who came at 5:00 for setup help: pair them with Javier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Quinntyne leads. 8 minutes, and hold it -- every minute here comes out of build</a:t>
            </a:r>
          </a:p>
          <a:p>
            <a:r>
              <a:t>time. Say the quote in your own words; do not read it off the screen.</a:t>
            </a:r>
          </a:p>
          <a:p>
            <a:r>
              <a:t>Then logistics: washrooms, wifi password (on the seat-drop card), snacks table,</a:t>
            </a:r>
          </a:p>
          <a:p>
            <a:r>
              <a:t>pizza at 6:30, raffle names in the bowl now and drawn at 8:50.</a:t>
            </a:r>
          </a:p>
          <a:p>
            <a:r>
              <a:t>Thank Stone Church by name here as well as at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Quinntyne leads. Prayer bookends the night -- opening 5:20, closing 8:55.</a:t>
            </a:r>
          </a:p>
          <a:p>
            <a:r>
              <a:t>Pray over the work and over the people it is for, not just over the evening.</a:t>
            </a:r>
          </a:p>
          <a:p>
            <a:r>
              <a:t>Keep it short and unhurried. Nobody is timing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shape of the night, and it is the most useful thing to land early.</a:t>
            </a:r>
          </a:p>
          <a:p>
            <a:r>
              <a:t>Once people understand the agent runs are the spine, they stop treating the</a:t>
            </a:r>
          </a:p>
          <a:p>
            <a:r>
              <a:t>breaks as filler and stop watching progress bars.</a:t>
            </a:r>
          </a:p>
          <a:p>
            <a:r>
              <a:t>Becky calls every agent kickoff out loud: 6:40, 7:20, 7:45, 8:10.</a:t>
            </a:r>
          </a:p>
          <a:p>
            <a:r>
              <a:t>Say it plainly: the 8:30 demo start is a hard stop, not a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minutes for ~17 people. Becky times, and is allowed to be rude about it.</a:t>
            </a:r>
          </a:p>
          <a:p>
            <a:r>
              <a:t>Hold the line on 40 seconds. If this becomes 25 minutes the build loses a whole</a:t>
            </a:r>
          </a:p>
          <a:p>
            <a:r>
              <a:t>agent run -- that is the actual cost, so say so if it starts to slip.</a:t>
            </a:r>
          </a:p>
          <a:p>
            <a:r>
              <a:t>Model it: go first, and take exactly 40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minutes, Quinntyne. Name where tonight sits in each phase:</a:t>
            </a:r>
          </a:p>
          <a:p>
            <a:r>
              <a:t>Discover 5:28-6:05, Discern 6:05-6:15, Develop 6:15-8:10,</a:t>
            </a:r>
          </a:p>
          <a:p>
            <a:r>
              <a:t>Demonstrate 8:10-8:50.</a:t>
            </a:r>
          </a:p>
          <a:p>
            <a:r>
              <a:t>The video is the artifact, the friendship is the impact.</a:t>
            </a:r>
          </a:p>
          <a:p>
            <a:r>
              <a:t>Do not over-teach this. The five R's slide is the one they will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Quinntyne. This is the loop teams run all night, so spend your minutes here</a:t>
            </a:r>
          </a:p>
          <a:p>
            <a:r>
              <a:t>rather than on the 4D slide.</a:t>
            </a:r>
          </a:p>
          <a:p>
            <a:r>
              <a:t>Frame Rejoice deliberately: with agents doing the typing, teams sprint through</a:t>
            </a:r>
          </a:p>
          <a:p>
            <a:r>
              <a:t>Request and Render and skip Receive and Rejoice entirely. That is the failure</a:t>
            </a:r>
          </a:p>
          <a:p>
            <a:r>
              <a:t>mode of an AI build night, and it is why the demos are on the schedule.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Quinntyne, 4 minutes. Keep it to what someone would need in order to decide to</a:t>
            </a:r>
          </a:p>
          <a:p>
            <a:r>
              <a:t>join. This is the safe landing spot for anyone who arrives without an idea, and</a:t>
            </a:r>
          </a:p>
          <a:p>
            <a:r>
              <a:t>for solo builders if turnout is light -- fold them in here rather than starting</a:t>
            </a:r>
          </a:p>
          <a:p>
            <a:r>
              <a:t>something cold.</a:t>
            </a:r>
          </a:p>
          <a:p>
            <a:r>
              <a:t>Have the repo URL ready to paste into Slack the moment you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Guest presenter, 10 minutes, confirmed Tuesday. Hand over cleanly and get out of</a:t>
            </a:r>
          </a:p>
          <a:p>
            <a:r>
              <a:t>the way -- then hold him to 10 minutes.</a:t>
            </a:r>
          </a:p>
          <a:p>
            <a:r>
              <a:t>Ask him to end by naming the help he actually wants, not just the idea.</a:t>
            </a:r>
          </a:p>
          <a:p>
            <a:r>
              <a:t>Then open the invitation to the room: RTR, this project, or your own.</a:t>
            </a:r>
          </a:p>
          <a:p>
            <a:r>
              <a:t>CONTINGENCY: if the pitch runs long, cut the 7:20 networking break to 10 minutes.</a:t>
            </a:r>
          </a:p>
          <a:p>
            <a:r>
              <a:t>Never cut dinner and never cut the demos.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Quinntyne leads, Javier works the room. 10 minutes.</a:t>
            </a:r>
          </a:p>
          <a:p>
            <a:r>
              <a:t>Run the discernment call on each idea OUT LOUD -- it teaches the framework far</a:t>
            </a:r>
          </a:p>
          <a:p>
            <a:r>
              <a:t>better than the slide does, and it kills the unbuildable ideas kindly.</a:t>
            </a:r>
          </a:p>
          <a:p>
            <a:r>
              <a:t>Lament first. Do not let anyone jump to a feature list before they have named</a:t>
            </a:r>
          </a:p>
          <a:p>
            <a:r>
              <a:t>who the problem hurts.</a:t>
            </a:r>
          </a:p>
          <a:p>
            <a:r>
              <a:t>Javier: start forming teams of 2-3 while this is happening.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highest-leverage sentence of the night. Say it twice.</a:t>
            </a:r>
          </a:p>
          <a:p>
            <a:r>
              <a:t>Javier and Quinntyne go table to table and cut scope out loud -- teams will not</a:t>
            </a:r>
          </a:p>
          <a:p>
            <a:r>
              <a:t>cut hard enough on their own, and a friendly outside voice makes it painless.</a:t>
            </a:r>
          </a:p>
          <a:p>
            <a:r>
              <a:t>One sentence on the table tent, visible all night. If a team cannot write the</a:t>
            </a:r>
          </a:p>
          <a:p>
            <a:r>
              <a:t>sentence, the scope is still too big.</a:t>
            </a:r>
          </a:p>
          <a:p>
            <a:r>
              <a:t>Anyone still solo at 6:25 gets paired with a team that is already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minutes, everyone at once. Javier and Quinntyne work the room.</a:t>
            </a:r>
          </a:p>
          <a:p>
            <a:r>
              <a:t>Produces AGENTS.md plus CLAUDE.md, GEMINI.md and copilot-instructions.</a:t>
            </a:r>
          </a:p>
          <a:p/>
          <a:p>
            <a:r>
              <a:t>If someone did not do the pre-flight install:</a:t>
            </a:r>
          </a:p>
          <a:p>
            <a:r>
              <a:t>  claude plugin marketplace add QuinntyneBrown/agent-toolkit</a:t>
            </a:r>
          </a:p>
          <a:p>
            <a:r>
              <a:t>  claude plugin install agent-toolkit@agent-toolkit</a:t>
            </a:r>
          </a:p>
          <a:p/>
          <a:p>
            <a:r>
              <a:t>The silent killers are Python 3.10+ on PATH, and Java + PlantUML. A team</a:t>
            </a:r>
          </a:p>
          <a:p>
            <a:r>
              <a:t>discovers the missing PlantUML at 7:20 when the diagrams will not render.</a:t>
            </a:r>
          </a:p>
          <a:p>
            <a:r>
              <a:t>Check both now, not later.</a:t>
            </a:r>
          </a:p>
          <a:p/>
          <a:p>
            <a:r>
              <a:t>Anyone still stuck at 6:25 pairs up with a team that is not. Say out loud now</a:t>
            </a:r>
          </a:p>
          <a:p>
            <a:r>
              <a:t>that a team which finishes early goes and helps a stuck team -- said in advance</a:t>
            </a:r>
          </a:p>
          <a:p>
            <a:r>
              <a:t>it feels expected rather than like charity.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minutes. Teams write; do not let them start coding.</a:t>
            </a:r>
          </a:p>
          <a:p>
            <a:r>
              <a:t>Prose, not bullet points -- the requirements skill does better with prose.</a:t>
            </a:r>
          </a:p>
          <a:p>
            <a:r>
              <a:t>Hold 6:40 absolutely. An ugly PRD that reaches the agent at 6:40 beats a polished</a:t>
            </a:r>
          </a:p>
          <a:p>
            <a:r>
              <a:t>one at 6:55, because dinner is the agent's window and the window does not move.</a:t>
            </a:r>
          </a:p>
          <a:p>
            <a:r>
              <a:t>Becky calls the 6:40 kickoff.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Becky calls this out loud. Every team starts the run before they touch food.</a:t>
            </a:r>
          </a:p>
          <a:p>
            <a:r>
              <a:t>The agent writes L1 and L2 through the whole dinner block -- that is the design.</a:t>
            </a:r>
          </a:p>
          <a:p>
            <a:r>
              <a:t>Do not let anyone sit and watch it. Get them to the pizza.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~12 minutes standing up, over the food. No slides beyond this one -- talk.</a:t>
            </a:r>
          </a:p>
          <a:p>
            <a:r>
              <a:t>Becky on food; pizza was ordered at 5:45 for 6:30 delivery.</a:t>
            </a:r>
          </a:p>
          <a:p>
            <a:r>
              <a:t>Then take questions until 7:10. Do not fill the whole block with teaching --</a:t>
            </a:r>
          </a:p>
          <a:p>
            <a:r>
              <a:t>people need to eat and the room needs to breathe.</a:t>
            </a:r>
          </a:p>
          <a:p>
            <a:r>
              <a:t>Budget: $65 across ~17 people is about $3.80 a head. A top-up of $30-40 is</a:t>
            </a:r>
          </a:p>
          <a:p>
            <a:r>
              <a:t>expected -- keep the receipt for FaithTech.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minutes, teams. This is the Review step of the five R's, and it is the one</a:t>
            </a:r>
          </a:p>
          <a:p>
            <a:r>
              <a:t>teams skip when the agent is fast.</a:t>
            </a:r>
          </a:p>
          <a:p>
            <a:r>
              <a:t>Make them actually open L1.md and L2.md and read them. Ask one team to read a</a:t>
            </a:r>
          </a:p>
          <a:p>
            <a:r>
              <a:t>requirement out loud -- it usually surfaces a wrong assumption immediately.</a:t>
            </a:r>
          </a:p>
          <a:p>
            <a:r>
              <a:t>Then the mock prompt, with the design-artifact line in it. Leave that line out</a:t>
            </a:r>
          </a:p>
          <a:p>
            <a:r>
              <a:t>and the agent will try to build the mocks properly and burn the window.</a:t>
            </a:r>
          </a:p>
          <a:p>
            <a:r>
              <a:t>Becky calls the 7:20 kickoff.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Becky calls it. Both things start now -- the mocks and the design documents.</a:t>
            </a:r>
          </a:p>
          <a:p>
            <a:r>
              <a:t>The design skill REFUSES to run without L1 and L2 already in docs/specs/. It</a:t>
            </a:r>
          </a:p>
          <a:p>
            <a:r>
              <a:t>stops and asks rather than inventing them, so a team that skipped the 6:40 run</a:t>
            </a:r>
          </a:p>
          <a:p>
            <a:r>
              <a:t>gets caught here. Watch for it.</a:t>
            </a:r>
          </a:p>
          <a:p>
            <a:r>
              <a:t>This is also where a missing Java/PlantUML install shows up. Fallback: they carry</a:t>
            </a:r>
          </a:p>
          <a:p>
            <a:r>
              <a:t>on and demo the mocks plus the specs.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break, and it is deliberate -- friendship is the point, not just the build.</a:t>
            </a:r>
          </a:p>
          <a:p>
            <a:r>
              <a:t>Jordan: photos, and 2-3 short testimonials on camera while the room is warm.</a:t>
            </a:r>
          </a:p>
          <a:p>
            <a:r>
              <a:t>This is the block to cut to 10 minutes if the guest pitch ran long.</a:t>
            </a:r>
          </a:p>
          <a:p>
            <a:r>
              <a:t>Quinntyne and Javier: use it to check on the quietest team, not the loudest.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minutes, teams. Easy to skip, expensive to skip.</a:t>
            </a:r>
          </a:p>
          <a:p>
            <a:r>
              <a:t>Make them ask for the LIST of contradictions, not just a silent fix -- the list</a:t>
            </a:r>
          </a:p>
          <a:p>
            <a:r>
              <a:t>is what teaches them where the drift comes from.</a:t>
            </a:r>
          </a:p>
          <a:p>
            <a:r>
              <a:t>Becky calls the 7:45 kickoff.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minutes, the quietest stretch of the night.</a:t>
            </a:r>
          </a:p>
          <a:p>
            <a:r>
              <a:t>Quinntyne and Javier float constantly. The failure mode here is a team silently</a:t>
            </a:r>
          </a:p>
          <a:p>
            <a:r>
              <a:t>stuck for fifteen minutes -- keep circling, and ask "what is on screen right</a:t>
            </a:r>
          </a:p>
          <a:p>
            <a:r>
              <a:t>now?" rather than "how is it going?".</a:t>
            </a:r>
          </a:p>
          <a:p>
            <a:r>
              <a:t>Becky calls the 8:00 thirty-minute warning OUT LOUD. Any team without something</a:t>
            </a:r>
          </a:p>
          <a:p>
            <a:r>
              <a:t>on screen by then stops adding and starts cutting.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Becky calls it. Every team starts the render now, then writes their words while</a:t>
            </a:r>
          </a:p>
          <a:p>
            <a:r>
              <a:t>it runs.</a:t>
            </a:r>
          </a:p>
          <a:p>
            <a:r>
              <a:t>Javier collects the video files on the presenting laptop by 8:25. Not 8:31.</a:t>
            </a:r>
          </a:p>
          <a:p>
            <a:r>
              <a:t>CONTINGENCY: an agent that stalled or ate its window still demos -- the specs and</a:t>
            </a:r>
          </a:p>
          <a:p>
            <a:r>
              <a:t>the mocks ARE a real demo, and they show the process, which is what tonight is</a:t>
            </a:r>
          </a:p>
          <a:p>
            <a:r>
              <a:t>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minutes while the renders run. Teams write; they do not keep building.</a:t>
            </a:r>
          </a:p>
          <a:p>
            <a:r>
              <a:t>"What you watched the agent do" is the interesting line, and the one people</a:t>
            </a:r>
          </a:p>
          <a:p>
            <a:r>
              <a:t>forget -- it is what makes this a build night rather than a demo night.</a:t>
            </a:r>
          </a:p>
          <a:p>
            <a:r>
              <a:t>Javier collects files by 8:25 on the presenting laptop and confirms each one</a:t>
            </a:r>
          </a:p>
          <a:p>
            <a:r>
              <a:t>actually plays.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HARD START at 8:30. Becky holds it. ~5 teams, 3 minutes each, 20 minutes total.</a:t>
            </a:r>
          </a:p>
          <a:p>
            <a:r>
              <a:t>Jordan records the demos.</a:t>
            </a:r>
          </a:p>
          <a:p>
            <a:r>
              <a:t>Do not let a team apologise their way through their slot -- redirect them to what</a:t>
            </a:r>
          </a:p>
          <a:p>
            <a:r>
              <a:t>they learned. Celebrate loudly and specifically; name what each team did that was</a:t>
            </a:r>
          </a:p>
          <a:p>
            <a:r>
              <a:t>good. This block is the room's shared Rejoice, and it sets whether people come</a:t>
            </a:r>
          </a:p>
          <a:p>
            <a:r>
              <a:t>back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Becky runs the draw. Jordan gets the photo.</a:t>
            </a:r>
          </a:p>
          <a:p>
            <a:r>
              <a:t>5 minutes -- keep it light and quick. It is a thank-you, not a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Quinntyne. Name the next event date concretely, so people can put it in a</a:t>
            </a:r>
          </a:p>
          <a:p>
            <a:r>
              <a:t>calendar tonight while they still feel it.</a:t>
            </a:r>
          </a:p>
          <a:p>
            <a:r>
              <a:t>Say how to keep the repos alive: who owns each one, where it lives, what the next</a:t>
            </a:r>
          </a:p>
          <a:p>
            <a:r>
              <a:t>commit would be.</a:t>
            </a:r>
          </a:p>
          <a:p>
            <a:r>
              <a:t>Thank Stone Church by name. We are coming back, and the room should be left</a:t>
            </a:r>
          </a:p>
          <a:p>
            <a:r>
              <a:t>better than they handed it to us.</a:t>
            </a:r>
          </a:p>
          <a:p>
            <a:r>
              <a:t>Then close in prayer over the work and the people it is for.</a:t>
            </a:r>
          </a:p>
          <a:p>
            <a:r>
              <a:t>Teardown 9:00-9:20, all hands.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up through teardown.</a:t>
            </a:r>
          </a:p>
          <a:p>
            <a:r>
              <a:t>Teardown 9:00-9:20, all hands: cooler out, garbage bagged, chairs and tables</a:t>
            </a:r>
          </a:p>
          <a:p>
            <a:r>
              <a:t>back, lights, lock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486400" cy="4645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2400" b="1">
                <a:solidFill>
                  <a:srgbClr val="16160C"/>
                </a:solidFill>
                <a:latin typeface="Segoe UI Semibold"/>
              </a:rPr>
              <a:t>FAITHTECH </a:t>
            </a:r>
            <a:r>
              <a:rPr sz="2400" b="0">
                <a:solidFill>
                  <a:srgbClr val="5E5C53"/>
                </a:solidFill>
                <a:latin typeface="Segoe UI"/>
              </a:rPr>
              <a:t>TORONTO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37215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0" i="0">
                <a:solidFill>
                  <a:srgbClr val="16160C"/>
                </a:solidFill>
                <a:latin typeface="Segoe UI Semibold"/>
              </a:rPr>
              <a:t>AI Build Night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127248"/>
            <a:ext cx="2377440" cy="9144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93008"/>
            <a:ext cx="10637215" cy="11131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Wednesday 9 September 2026   ·   5:00 – 9:00 PM</a:t>
            </a:r>
          </a:p>
          <a:p>
            <a:pPr algn="l">
              <a:lnSpc>
                <a:spcPct val="122000"/>
              </a:lnSpc>
              <a:spcBef>
                <a:spcPts val="720"/>
              </a:spcBef>
              <a:spcAft>
                <a:spcPts val="0"/>
              </a:spcAft>
            </a:pPr>
            <a:r>
              <a:rPr sz="2600" b="0" i="0">
                <a:solidFill>
                  <a:srgbClr val="5E5C53"/>
                </a:solidFill>
                <a:latin typeface="Segoe UI"/>
              </a:rPr>
              <a:t>Stone Church   ·   45 Davenport Rd, Toronto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924351" cy="384048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1924351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GRAB A NAME TAG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7895" y="5074920"/>
            <a:ext cx="2617978" cy="384048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47895" y="5074920"/>
            <a:ext cx="261797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NAME IN THE RAFFLE BOWL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12177" y="5074920"/>
            <a:ext cx="1505023" cy="384048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2177" y="5074920"/>
            <a:ext cx="1505023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PIZZA AT 6:30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3505" y="5074920"/>
            <a:ext cx="2859810" cy="384048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63505" y="5074920"/>
            <a:ext cx="285981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SNACKS AND DRINKS ARE 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A JESUS REVIVAL IN AND THROUGH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04149" cy="310896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4149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845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5:20 PM  ·  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9997135" cy="1837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16160C"/>
                </a:solidFill>
                <a:latin typeface="Palatino Linotype"/>
              </a:rPr>
              <a:t>“You showed up on a Wednesday night with your laptop to build something for the Kingdom. That’s admirable, it’s appreciated, and it’s seen. Thank you.”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754880"/>
            <a:ext cx="1597915" cy="420624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59791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WASHROOMS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9747" y="4754880"/>
            <a:ext cx="785495" cy="420624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9747" y="4754880"/>
            <a:ext cx="785495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WIFI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9834" y="4754880"/>
            <a:ext cx="1670702" cy="420624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9834" y="4754880"/>
            <a:ext cx="1670702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SNACKS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25129" y="4754880"/>
            <a:ext cx="1311783" cy="420624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5129" y="4754880"/>
            <a:ext cx="131178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PIZZA 6:30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1504" y="4754880"/>
            <a:ext cx="1417573" cy="420624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1504" y="4754880"/>
            <a:ext cx="1417573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RAFFLE 8:50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13248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Put your name in the bowl now. We draw at 8:50.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04149" cy="310896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4149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845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5:20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Opening prayer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9448495" cy="2106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1">
                <a:solidFill>
                  <a:srgbClr val="16160C"/>
                </a:solidFill>
                <a:latin typeface="Palatino Linotype"/>
              </a:rPr>
              <a:t>“Let the favour of the Lord our God be upon us, and establish the work of our hands upon us — yes, establish the work of our hands.”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754880"/>
            <a:ext cx="1645920" cy="73152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0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E5C53"/>
                </a:solidFill>
                <a:latin typeface="Segoe UI"/>
              </a:rPr>
              <a:t>Psalm 90:17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04149" cy="310896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04149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GATHER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845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5:22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Tonight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47088"/>
            <a:ext cx="9905695" cy="6181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 i="0">
                <a:solidFill>
                  <a:srgbClr val="16160C"/>
                </a:solidFill>
                <a:latin typeface="Segoe UI Semibold"/>
              </a:rPr>
              <a:t>By 8:30 you will have a demo video you can share.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684678"/>
            <a:ext cx="2522143" cy="1395374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684678"/>
            <a:ext cx="2522143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49854"/>
            <a:ext cx="2156383" cy="10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160C"/>
                </a:solidFill>
                <a:latin typeface="Consolas"/>
              </a:rPr>
              <a:t>6:40</a:t>
            </a:r>
          </a:p>
          <a:p>
            <a:pPr algn="l">
              <a:lnSpc>
                <a:spcPct val="122000"/>
              </a:lnSpc>
              <a:spcBef>
                <a:spcPts val="432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Specs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82263" y="2684678"/>
            <a:ext cx="2522143" cy="1395374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82263" y="2684678"/>
            <a:ext cx="2522143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5143" y="2949854"/>
            <a:ext cx="2156383" cy="10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160C"/>
                </a:solidFill>
                <a:latin typeface="Consolas"/>
              </a:rPr>
              <a:t>7:20</a:t>
            </a:r>
          </a:p>
          <a:p>
            <a:pPr algn="l">
              <a:lnSpc>
                <a:spcPct val="122000"/>
              </a:lnSpc>
              <a:spcBef>
                <a:spcPts val="432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Mocks +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7287" y="2684678"/>
            <a:ext cx="2522143" cy="1395374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7287" y="2684678"/>
            <a:ext cx="2522143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0167" y="2949854"/>
            <a:ext cx="2156383" cy="10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160C"/>
                </a:solidFill>
                <a:latin typeface="Consolas"/>
              </a:rPr>
              <a:t>7:45</a:t>
            </a:r>
          </a:p>
          <a:p>
            <a:pPr algn="l">
              <a:lnSpc>
                <a:spcPct val="122000"/>
              </a:lnSpc>
              <a:spcBef>
                <a:spcPts val="432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2311" y="2684678"/>
            <a:ext cx="2522143" cy="1395374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92311" y="2684678"/>
            <a:ext cx="2522143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5191" y="2949854"/>
            <a:ext cx="2156383" cy="1002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6160C"/>
                </a:solidFill>
                <a:latin typeface="Consolas"/>
              </a:rPr>
              <a:t>8:10</a:t>
            </a:r>
          </a:p>
          <a:p>
            <a:pPr algn="l">
              <a:lnSpc>
                <a:spcPct val="122000"/>
              </a:lnSpc>
              <a:spcBef>
                <a:spcPts val="432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Demo video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17796"/>
            <a:ext cx="10637215" cy="835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Four agent runs carry the whole night, and each is paired with something worth doing while it works — eating, teaching, praying, meeting each other.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140690" cy="310896"/>
          </a:xfrm>
          <a:prstGeom prst="roundRect">
            <a:avLst>
              <a:gd name="adj" fmla="val 50000"/>
            </a:avLst>
          </a:prstGeom>
          <a:solidFill>
            <a:srgbClr val="1D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14069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7386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5:28 PM  ·  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Introductions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10637215" cy="910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16160C"/>
                </a:solidFill>
                <a:latin typeface="Segoe UI Semibold"/>
              </a:rPr>
              <a:t>40 seconds 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3179368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3040684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Your name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908450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3769766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What you make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4637532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4498848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What’s on your heart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2521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17 of us. We’re keeping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140690" cy="310896"/>
          </a:xfrm>
          <a:prstGeom prst="roundRect">
            <a:avLst>
              <a:gd name="adj" fmla="val 50000"/>
            </a:avLst>
          </a:prstGeom>
          <a:solidFill>
            <a:srgbClr val="1D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14069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7386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5:40 PM  ·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The 4D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01952"/>
            <a:ext cx="475488" cy="47548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16160C"/>
                </a:solidFill>
                <a:latin typeface="Segoe UI Semibold"/>
              </a:rPr>
              <a:t>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1874520"/>
            <a:ext cx="9923983" cy="510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600" b="1">
                <a:solidFill>
                  <a:srgbClr val="16160C"/>
                </a:solidFill>
                <a:latin typeface="Segoe UI Semibold"/>
              </a:rPr>
              <a:t>Discover</a:t>
            </a:r>
            <a:r>
              <a:rPr sz="2000">
                <a:solidFill>
                  <a:srgbClr val="5E5C53"/>
                </a:solidFill>
                <a:latin typeface="Segoe UI"/>
              </a:rPr>
              <a:t>   See clearly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357628"/>
            <a:ext cx="9814255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6160C"/>
                </a:solidFill>
                <a:latin typeface="Segoe UI"/>
              </a:rPr>
              <a:t>Reorient through the lens of Christ. Lament. See who it touches most.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33116"/>
            <a:ext cx="475488" cy="47548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33116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16160C"/>
                </a:solidFill>
                <a:latin typeface="Segoe UI Semibold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2805684"/>
            <a:ext cx="9923983" cy="510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600" b="1">
                <a:solidFill>
                  <a:srgbClr val="16160C"/>
                </a:solidFill>
                <a:latin typeface="Segoe UI Semibold"/>
              </a:rPr>
              <a:t>Discern</a:t>
            </a:r>
            <a:r>
              <a:rPr sz="2000">
                <a:solidFill>
                  <a:srgbClr val="5E5C53"/>
                </a:solidFill>
                <a:latin typeface="Segoe UI"/>
              </a:rPr>
              <a:t>   Choose wisely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3288792"/>
            <a:ext cx="9814255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6160C"/>
                </a:solidFill>
                <a:latin typeface="Segoe UI"/>
              </a:rPr>
              <a:t>Seek God’s wisdom, then decide: Reject, Receive, Reimagine, or Create.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64280"/>
            <a:ext cx="475488" cy="47548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64280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16160C"/>
                </a:solidFill>
                <a:latin typeface="Segoe UI Semibold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736848"/>
            <a:ext cx="9923983" cy="510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600" b="1">
                <a:solidFill>
                  <a:srgbClr val="16160C"/>
                </a:solidFill>
                <a:latin typeface="Segoe UI Semibold"/>
              </a:rPr>
              <a:t>Develop</a:t>
            </a:r>
            <a:r>
              <a:rPr sz="2000">
                <a:solidFill>
                  <a:srgbClr val="5E5C53"/>
                </a:solidFill>
                <a:latin typeface="Segoe UI"/>
              </a:rPr>
              <a:t>   Co-create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4219956"/>
            <a:ext cx="9814255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6160C"/>
                </a:solidFill>
                <a:latin typeface="Segoe UI"/>
              </a:rPr>
              <a:t>Build in sprints, running the 5R loop on every work item.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695444"/>
            <a:ext cx="475488" cy="47548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95444"/>
            <a:ext cx="475488" cy="4754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16160C"/>
                </a:solidFill>
                <a:latin typeface="Segoe UI Semibold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90472" y="4668012"/>
            <a:ext cx="9923983" cy="510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600" b="1">
                <a:solidFill>
                  <a:srgbClr val="16160C"/>
                </a:solidFill>
                <a:latin typeface="Segoe UI Semibold"/>
              </a:rPr>
              <a:t>Demonstrate</a:t>
            </a:r>
            <a:r>
              <a:rPr sz="2000">
                <a:solidFill>
                  <a:srgbClr val="5E5C53"/>
                </a:solidFill>
                <a:latin typeface="Segoe UI"/>
              </a:rPr>
              <a:t>   Measure love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0472" y="5151120"/>
            <a:ext cx="9814255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6160C"/>
                </a:solidFill>
                <a:latin typeface="Segoe UI"/>
              </a:rPr>
              <a:t>Redefine impact as friendship compounded by time, not speed shipped.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140690" cy="310896"/>
          </a:xfrm>
          <a:prstGeom prst="roundRect">
            <a:avLst>
              <a:gd name="adj" fmla="val 50000"/>
            </a:avLst>
          </a:prstGeom>
          <a:solidFill>
            <a:srgbClr val="1D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14069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7386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5:45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The five R’s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The loop inside every build block. Not done until all five have happened.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55520"/>
            <a:ext cx="2039660" cy="258592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255520"/>
            <a:ext cx="2039660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484120"/>
            <a:ext cx="1747052" cy="22658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E5C53"/>
                </a:solidFill>
                <a:latin typeface="Consolas"/>
              </a:rPr>
              <a:t>1</a:t>
            </a:r>
          </a:p>
          <a:p>
            <a:pPr algn="l">
              <a:lnSpc>
                <a:spcPct val="122000"/>
              </a:lnSpc>
              <a:spcBef>
                <a:spcPts val="288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Request</a:t>
            </a:r>
          </a:p>
          <a:p>
            <a:pPr algn="l">
              <a:lnSpc>
                <a:spcPct val="115000"/>
              </a:lnSpc>
              <a:spcBef>
                <a:spcPts val="504"/>
              </a:spcBef>
              <a:spcAft>
                <a:spcPts val="0"/>
              </a:spcAft>
            </a:pPr>
            <a:r>
              <a:rPr sz="1400" b="0" i="0">
                <a:solidFill>
                  <a:srgbClr val="16160C"/>
                </a:solidFill>
                <a:latin typeface="Segoe UI Semibold"/>
              </a:rPr>
              <a:t>Invite the Spirit into the work</a:t>
            </a:r>
          </a:p>
          <a:p>
            <a:pPr algn="l">
              <a:lnSpc>
                <a:spcPct val="118000"/>
              </a:lnSpc>
              <a:spcBef>
                <a:spcPts val="648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A short, honest ask.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628" y="2255520"/>
            <a:ext cx="2039660" cy="258592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26628" y="2255520"/>
            <a:ext cx="2039660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72932" y="2484120"/>
            <a:ext cx="1747052" cy="22658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E5C53"/>
                </a:solidFill>
                <a:latin typeface="Consolas"/>
              </a:rPr>
              <a:t>2</a:t>
            </a:r>
          </a:p>
          <a:p>
            <a:pPr algn="l">
              <a:lnSpc>
                <a:spcPct val="122000"/>
              </a:lnSpc>
              <a:spcBef>
                <a:spcPts val="288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Receive</a:t>
            </a:r>
          </a:p>
          <a:p>
            <a:pPr algn="l">
              <a:lnSpc>
                <a:spcPct val="115000"/>
              </a:lnSpc>
              <a:spcBef>
                <a:spcPts val="504"/>
              </a:spcBef>
              <a:spcAft>
                <a:spcPts val="0"/>
              </a:spcAft>
            </a:pPr>
            <a:r>
              <a:rPr sz="1400" b="0" i="0">
                <a:solidFill>
                  <a:srgbClr val="16160C"/>
                </a:solidFill>
                <a:latin typeface="Segoe UI Semibold"/>
              </a:rPr>
              <a:t>Wait, and write down what comes</a:t>
            </a:r>
          </a:p>
          <a:p>
            <a:pPr algn="l">
              <a:lnSpc>
                <a:spcPct val="118000"/>
              </a:lnSpc>
              <a:spcBef>
                <a:spcPts val="648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Capture it, unedited.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6017" y="2255520"/>
            <a:ext cx="2039660" cy="258592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6017" y="2255520"/>
            <a:ext cx="2039660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2321" y="2484120"/>
            <a:ext cx="1747052" cy="22658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E5C53"/>
                </a:solidFill>
                <a:latin typeface="Consolas"/>
              </a:rPr>
              <a:t>3</a:t>
            </a:r>
          </a:p>
          <a:p>
            <a:pPr algn="l">
              <a:lnSpc>
                <a:spcPct val="122000"/>
              </a:lnSpc>
              <a:spcBef>
                <a:spcPts val="288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Review</a:t>
            </a:r>
          </a:p>
          <a:p>
            <a:pPr algn="l">
              <a:lnSpc>
                <a:spcPct val="115000"/>
              </a:lnSpc>
              <a:spcBef>
                <a:spcPts val="504"/>
              </a:spcBef>
              <a:spcAft>
                <a:spcPts val="0"/>
              </a:spcAft>
            </a:pPr>
            <a:r>
              <a:rPr sz="1400" b="0" i="0">
                <a:solidFill>
                  <a:srgbClr val="16160C"/>
                </a:solidFill>
                <a:latin typeface="Segoe UI Semibold"/>
              </a:rPr>
              <a:t>Synthesize what emerged</a:t>
            </a:r>
          </a:p>
          <a:p>
            <a:pPr algn="l">
              <a:lnSpc>
                <a:spcPct val="118000"/>
              </a:lnSpc>
              <a:spcBef>
                <a:spcPts val="648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Shape it into a direction.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5405" y="2255520"/>
            <a:ext cx="2039660" cy="258592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5405" y="2255520"/>
            <a:ext cx="2039660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71709" y="2484120"/>
            <a:ext cx="1747052" cy="22658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E5C53"/>
                </a:solidFill>
                <a:latin typeface="Consolas"/>
              </a:rPr>
              <a:t>4</a:t>
            </a:r>
          </a:p>
          <a:p>
            <a:pPr algn="l">
              <a:lnSpc>
                <a:spcPct val="122000"/>
              </a:lnSpc>
              <a:spcBef>
                <a:spcPts val="288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Render</a:t>
            </a:r>
          </a:p>
          <a:p>
            <a:pPr algn="l">
              <a:lnSpc>
                <a:spcPct val="115000"/>
              </a:lnSpc>
              <a:spcBef>
                <a:spcPts val="504"/>
              </a:spcBef>
              <a:spcAft>
                <a:spcPts val="0"/>
              </a:spcAft>
            </a:pPr>
            <a:r>
              <a:rPr sz="1400" b="0" i="0">
                <a:solidFill>
                  <a:srgbClr val="16160C"/>
                </a:solidFill>
                <a:latin typeface="Segoe UI Semibold"/>
              </a:rPr>
              <a:t>Build toward what you saw</a:t>
            </a:r>
          </a:p>
          <a:p>
            <a:pPr algn="l">
              <a:lnSpc>
                <a:spcPct val="118000"/>
              </a:lnSpc>
              <a:spcBef>
                <a:spcPts val="648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Make it real. Log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4794" y="2255520"/>
            <a:ext cx="2039660" cy="258592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4794" y="2255520"/>
            <a:ext cx="2039660" cy="8229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1098" y="2484120"/>
            <a:ext cx="1747052" cy="22658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E5C53"/>
                </a:solidFill>
                <a:latin typeface="Consolas"/>
              </a:rPr>
              <a:t>5</a:t>
            </a:r>
          </a:p>
          <a:p>
            <a:pPr algn="l">
              <a:lnSpc>
                <a:spcPct val="122000"/>
              </a:lnSpc>
              <a:spcBef>
                <a:spcPts val="288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Rejoice</a:t>
            </a:r>
          </a:p>
          <a:p>
            <a:pPr algn="l">
              <a:lnSpc>
                <a:spcPct val="115000"/>
              </a:lnSpc>
              <a:spcBef>
                <a:spcPts val="504"/>
              </a:spcBef>
              <a:spcAft>
                <a:spcPts val="0"/>
              </a:spcAft>
            </a:pPr>
            <a:r>
              <a:rPr sz="1400" b="0" i="0">
                <a:solidFill>
                  <a:srgbClr val="16160C"/>
                </a:solidFill>
                <a:latin typeface="Segoe UI Semibold"/>
              </a:rPr>
              <a:t>Give thanks for what was made</a:t>
            </a:r>
          </a:p>
          <a:p>
            <a:pPr algn="l">
              <a:lnSpc>
                <a:spcPct val="118000"/>
              </a:lnSpc>
              <a:spcBef>
                <a:spcPts val="648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Name the good it serves.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969459"/>
            <a:ext cx="10637215" cy="81808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969459"/>
            <a:ext cx="77724" cy="818083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9848" y="5170627"/>
            <a:ext cx="9960559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160C"/>
                </a:solidFill>
                <a:latin typeface="Segoe UI"/>
              </a:rPr>
              <a:t>Rejoice is the one you will skip. Protect the 8:30 demos.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140690" cy="310896"/>
          </a:xfrm>
          <a:prstGeom prst="roundRect">
            <a:avLst>
              <a:gd name="adj" fmla="val 50000"/>
            </a:avLst>
          </a:prstGeom>
          <a:solidFill>
            <a:srgbClr val="1D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14069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7386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5:50 PM  ·  4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Project one — RTR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10637215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E5C53"/>
                </a:solidFill>
                <a:latin typeface="Segoe UI Semibold"/>
              </a:rPr>
              <a:t>Reconciliation Through Relationships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12212"/>
            <a:ext cx="10637215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6160C"/>
                </a:solidFill>
                <a:latin typeface="Segoe UI"/>
              </a:rPr>
              <a:t>Built at July’s hackathon with rightrelationship.ca, in response to the TRC’s Calls to Action.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" y="2996488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879140"/>
            <a:ext cx="10216591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160C"/>
                </a:solidFill>
                <a:latin typeface="Segoe UI"/>
              </a:rPr>
              <a:t>Registration, onboarding, and a shared learning journey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" y="3558540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97864" y="3441192"/>
            <a:ext cx="10216591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160C"/>
                </a:solidFill>
                <a:latin typeface="Segoe UI"/>
              </a:rPr>
              <a:t>Facilitator-reviewed matching, cohort map, messaging, scheduling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058107"/>
            <a:ext cx="10637215" cy="438912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058107"/>
            <a:ext cx="10180015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2000">
                <a:solidFill>
                  <a:srgbClr val="16160C"/>
                </a:solidFill>
                <a:latin typeface="Consolas"/>
              </a:rPr>
              <a:t>Next.js 16   ·   React 19   ·   Tailwind 4   ·   Supabase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625035"/>
            <a:ext cx="10637215" cy="780288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625035"/>
            <a:ext cx="77724" cy="78028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826203"/>
            <a:ext cx="9960559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160C"/>
                </a:solidFill>
                <a:latin typeface="Segoe UI"/>
              </a:rPr>
              <a:t>Runs on mock data — clone it and you are building in five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140690" cy="310896"/>
          </a:xfrm>
          <a:prstGeom prst="roundRect">
            <a:avLst>
              <a:gd name="adj" fmla="val 50000"/>
            </a:avLst>
          </a:prstGeom>
          <a:solidFill>
            <a:srgbClr val="1D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14069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37386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5:55 PM  ·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Project two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10637215" cy="11332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 i="0">
                <a:solidFill>
                  <a:srgbClr val="16160C"/>
                </a:solidFill>
                <a:latin typeface="Segoe UI Semibold"/>
              </a:rPr>
              <a:t>Over to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794760"/>
            <a:ext cx="2377440" cy="9144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9905695" cy="10533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Then the invitation, to everyone: who wants in on either project? Teams of two or three.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43940" cy="310896"/>
          </a:xfrm>
          <a:prstGeom prst="roundRect">
            <a:avLst>
              <a:gd name="adj" fmla="val 50000"/>
            </a:avLst>
          </a:prstGeom>
          <a:solidFill>
            <a:srgbClr val="32A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4394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DISCERN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0635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6:05 PM  ·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Lament, then discern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10637215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Name what is broken, and who it hurts — before you name a feature.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503017"/>
            <a:ext cx="2535859" cy="1327099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503017"/>
            <a:ext cx="2535859" cy="82296"/>
          </a:xfrm>
          <a:prstGeom prst="rect">
            <a:avLst/>
          </a:prstGeom>
          <a:solidFill>
            <a:srgbClr val="32A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68193"/>
            <a:ext cx="2170099" cy="933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Reject</a:t>
            </a:r>
          </a:p>
          <a:p>
            <a:pPr algn="l">
              <a:lnSpc>
                <a:spcPct val="118000"/>
              </a:lnSpc>
              <a:spcBef>
                <a:spcPts val="576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Should not exist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7691" y="2503017"/>
            <a:ext cx="2535859" cy="1327099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7691" y="2503017"/>
            <a:ext cx="2535859" cy="82296"/>
          </a:xfrm>
          <a:prstGeom prst="rect">
            <a:avLst/>
          </a:prstGeom>
          <a:solidFill>
            <a:srgbClr val="32A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0571" y="2768193"/>
            <a:ext cx="2170099" cy="933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Receive</a:t>
            </a:r>
          </a:p>
          <a:p>
            <a:pPr algn="l">
              <a:lnSpc>
                <a:spcPct val="118000"/>
              </a:lnSpc>
              <a:spcBef>
                <a:spcPts val="576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Use it as it 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143" y="2503017"/>
            <a:ext cx="2535859" cy="1327099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8143" y="2503017"/>
            <a:ext cx="2535859" cy="82296"/>
          </a:xfrm>
          <a:prstGeom prst="rect">
            <a:avLst/>
          </a:prstGeom>
          <a:solidFill>
            <a:srgbClr val="32A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1023" y="2768193"/>
            <a:ext cx="2170099" cy="933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Reimagine</a:t>
            </a:r>
          </a:p>
          <a:p>
            <a:pPr algn="l">
              <a:lnSpc>
                <a:spcPct val="118000"/>
              </a:lnSpc>
              <a:spcBef>
                <a:spcPts val="576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Redeem what 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78595" y="2503017"/>
            <a:ext cx="2535859" cy="1327099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78595" y="2503017"/>
            <a:ext cx="2535859" cy="82296"/>
          </a:xfrm>
          <a:prstGeom prst="rect">
            <a:avLst/>
          </a:prstGeom>
          <a:solidFill>
            <a:srgbClr val="32A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475" y="2768193"/>
            <a:ext cx="2170099" cy="9339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Create</a:t>
            </a:r>
          </a:p>
          <a:p>
            <a:pPr algn="l">
              <a:lnSpc>
                <a:spcPct val="118000"/>
              </a:lnSpc>
              <a:spcBef>
                <a:spcPts val="576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Make it new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49572"/>
            <a:ext cx="10637215" cy="81808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49572"/>
            <a:ext cx="77724" cy="818083"/>
          </a:xfrm>
          <a:prstGeom prst="rect">
            <a:avLst/>
          </a:prstGeom>
          <a:solidFill>
            <a:srgbClr val="32A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4250740"/>
            <a:ext cx="9960559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160C"/>
                </a:solidFill>
                <a:latin typeface="Segoe UI"/>
              </a:rPr>
              <a:t>Most ideas tonight are Reimagine or Receive — not Create.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43940" cy="310896"/>
          </a:xfrm>
          <a:prstGeom prst="roundRect">
            <a:avLst>
              <a:gd name="adj" fmla="val 50000"/>
            </a:avLst>
          </a:prstGeom>
          <a:solidFill>
            <a:srgbClr val="32A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4394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DISCERN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0635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6:10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Scope 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9814255" cy="156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1">
                <a:solidFill>
                  <a:srgbClr val="16160C"/>
                </a:solidFill>
                <a:latin typeface="Palatino Linotype"/>
              </a:rPr>
              <a:t>“If it can’t be shown in a 90-second video by 8:30, it’s too big. Cut it again.”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4000499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3861815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Teams of two or three.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4821021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4682337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Write your build in one sentence on the table tent.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6:15 PM  · 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Setup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1965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1965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6160C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62456" y="1828800"/>
            <a:ext cx="10051999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160C"/>
                </a:solidFill>
                <a:latin typeface="Segoe UI"/>
              </a:rPr>
              <a:t>Create the GitHub repo — prove push access 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63419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63419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6160C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2456" y="2372563"/>
            <a:ext cx="10051999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160C"/>
                </a:solidFill>
                <a:latin typeface="Segoe UI"/>
              </a:rPr>
              <a:t>Install the MCP servers your project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07182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907182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6160C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2916326"/>
            <a:ext cx="10051999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160C"/>
                </a:solidFill>
                <a:latin typeface="Segoe UI"/>
              </a:rPr>
              <a:t>Confirm the agent-toolkit plugin loaded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450945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50945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6160C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62456" y="3460089"/>
            <a:ext cx="10051999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160C"/>
                </a:solidFill>
                <a:latin typeface="Segoe UI"/>
              </a:rPr>
              <a:t>Generate your agent instruction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168444"/>
            <a:ext cx="10637215" cy="1432560"/>
          </a:xfrm>
          <a:prstGeom prst="rect">
            <a:avLst/>
          </a:prstGeom>
          <a:solidFill>
            <a:srgbClr val="F5F0F0"/>
          </a:solidFill>
          <a:ln w="12700">
            <a:solidFill>
              <a:srgbClr val="C6C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168444"/>
            <a:ext cx="77724" cy="143256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369612"/>
            <a:ext cx="10234879" cy="1085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Consolas"/>
              </a:rPr>
              <a:t>/agent-toolkit:agent-instruction-files &lt;your project&gt;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F05228"/>
                </a:solidFill>
                <a:latin typeface="Consolas"/>
              </a:rPr>
              <a:t># it will ask: web or cli — know your answer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6:30 PM  ·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Write the mini-PRD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10637215" cy="463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E5C53"/>
                </a:solidFill>
                <a:latin typeface="Segoe UI"/>
              </a:rPr>
              <a:t>One page of prose. Ten minutes. This is the seed for everything downstream.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2478633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2329281"/>
            <a:ext cx="10216591" cy="583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Segoe UI"/>
              </a:rPr>
              <a:t>Who it is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227222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3077870"/>
            <a:ext cx="10216591" cy="583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Segoe UI"/>
              </a:rPr>
              <a:t>The problem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3975811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3826459"/>
            <a:ext cx="10216591" cy="583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Segoe UI"/>
              </a:rPr>
              <a:t>What “working” looks like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757928"/>
            <a:ext cx="10637215" cy="855878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757928"/>
            <a:ext cx="77724" cy="855878"/>
          </a:xfrm>
          <a:prstGeom prst="rect">
            <a:avLst/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959096"/>
            <a:ext cx="9960559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"/>
              </a:rPr>
              <a:t>Hard stop at 6:40. It goes to the agent whether it is pretty or not.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6:40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41248"/>
            <a:ext cx="12191695" cy="91440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4000" b="1">
                <a:solidFill>
                  <a:srgbClr val="16160C"/>
                </a:solidFill>
                <a:latin typeface="Segoe UI Semibold"/>
              </a:rPr>
              <a:t>AGENT RUN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Build the specs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50515"/>
            <a:ext cx="10637215" cy="1511808"/>
          </a:xfrm>
          <a:prstGeom prst="rect">
            <a:avLst/>
          </a:prstGeom>
          <a:solidFill>
            <a:srgbClr val="F5F0F0"/>
          </a:solidFill>
          <a:ln w="12700">
            <a:solidFill>
              <a:srgbClr val="C6C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50515"/>
            <a:ext cx="77724" cy="151180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51683"/>
            <a:ext cx="10234879" cy="1164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Consolas"/>
              </a:rPr>
              <a:t>/agent-toolkit:requirements-engineer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Consolas"/>
              </a:rPr>
              <a:t>  &lt;paste your mini-PRD&gt;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99483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Consolas"/>
              </a:rPr>
              <a:t>→ docs/specs/L1.md + L2.md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62779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L1 capabilities, L2 behaviours with Given/When/Then. Every L2 traces to an L1.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6:40 PM  · 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Pizza, and four ideas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637215" cy="463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E5C53"/>
                </a:solidFill>
                <a:latin typeface="Segoe UI"/>
              </a:rPr>
              <a:t>Eat properly. This is the one real break of the night.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92705"/>
            <a:ext cx="2535859" cy="2423160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292705"/>
            <a:ext cx="2535859" cy="82296"/>
          </a:xfrm>
          <a:prstGeom prst="rect">
            <a:avLst/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57881"/>
            <a:ext cx="2170099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MCP</a:t>
            </a:r>
          </a:p>
          <a:p>
            <a:pPr algn="l">
              <a:lnSpc>
                <a:spcPct val="118000"/>
              </a:lnSpc>
              <a:spcBef>
                <a:spcPts val="72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How your agent reaches tools it did not ship with.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7691" y="2292705"/>
            <a:ext cx="2535859" cy="2423160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7691" y="2292705"/>
            <a:ext cx="2535859" cy="82296"/>
          </a:xfrm>
          <a:prstGeom prst="rect">
            <a:avLst/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0571" y="2557881"/>
            <a:ext cx="2170099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AGENTS.md</a:t>
            </a:r>
          </a:p>
          <a:p>
            <a:pPr algn="l">
              <a:lnSpc>
                <a:spcPct val="118000"/>
              </a:lnSpc>
              <a:spcBef>
                <a:spcPts val="72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Durable memory. Written once, read every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8143" y="2292705"/>
            <a:ext cx="2535859" cy="2423160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8143" y="2292705"/>
            <a:ext cx="2535859" cy="82296"/>
          </a:xfrm>
          <a:prstGeom prst="rect">
            <a:avLst/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1023" y="2557881"/>
            <a:ext cx="2170099" cy="1627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Skills</a:t>
            </a:r>
          </a:p>
          <a:p>
            <a:pPr algn="l">
              <a:lnSpc>
                <a:spcPct val="118000"/>
              </a:lnSpc>
              <a:spcBef>
                <a:spcPts val="72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A reusable procedure you hand your agent.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78595" y="2292705"/>
            <a:ext cx="2535859" cy="2423160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78595" y="2292705"/>
            <a:ext cx="2535859" cy="82296"/>
          </a:xfrm>
          <a:prstGeom prst="rect">
            <a:avLst/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475" y="2557881"/>
            <a:ext cx="2170099" cy="2029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 Semibold"/>
              </a:rPr>
              <a:t>Agentic workflows</a:t>
            </a:r>
          </a:p>
          <a:p>
            <a:pPr algn="l">
              <a:lnSpc>
                <a:spcPct val="118000"/>
              </a:lnSpc>
              <a:spcBef>
                <a:spcPts val="72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Agents that run on the repo, not your laptop.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953609"/>
            <a:ext cx="10637215" cy="81808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953609"/>
            <a:ext cx="77724" cy="818083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154777"/>
            <a:ext cx="9960559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160C"/>
                </a:solidFill>
                <a:latin typeface="Segoe UI"/>
              </a:rPr>
              <a:t>Your agents are writing L1 and L2 this entire time.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7:10 PM  ·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Read what the agent wrote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92224"/>
            <a:ext cx="10637215" cy="798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16160C"/>
                </a:solidFill>
                <a:latin typeface="Segoe UI Semibold"/>
              </a:rPr>
              <a:t>Receive →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91968"/>
            <a:ext cx="10637215" cy="477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160C"/>
                </a:solidFill>
                <a:latin typeface="Segoe UI"/>
              </a:rPr>
              <a:t>Wrong requirements compound into wrong code faster than you can catch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33876"/>
            <a:ext cx="10637215" cy="463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160C"/>
                </a:solidFill>
                <a:latin typeface="Segoe UI"/>
              </a:rPr>
              <a:t>Then write your mock prompt — and say this in it, explicitly: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25798"/>
            <a:ext cx="10637215" cy="1309420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25798"/>
            <a:ext cx="77724" cy="1309420"/>
          </a:xfrm>
          <a:prstGeom prst="rect">
            <a:avLst/>
          </a:prstGeom>
          <a:solidFill>
            <a:srgbClr val="1D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226966"/>
            <a:ext cx="9960559" cy="9619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"/>
              </a:rPr>
              <a:t>HTML mocks are design artifacts, not production code. No ATDD, no tests, throwaway.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7:20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41248"/>
            <a:ext cx="12191695" cy="91440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4000" b="1">
                <a:solidFill>
                  <a:srgbClr val="16160C"/>
                </a:solidFill>
                <a:latin typeface="Segoe UI Semibold"/>
              </a:rPr>
              <a:t>AGENT RUN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Mocks and detailed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50515"/>
            <a:ext cx="10637215" cy="2066544"/>
          </a:xfrm>
          <a:prstGeom prst="rect">
            <a:avLst/>
          </a:prstGeom>
          <a:solidFill>
            <a:srgbClr val="F5F0F0"/>
          </a:solidFill>
          <a:ln w="12700">
            <a:solidFill>
              <a:srgbClr val="C6C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50515"/>
            <a:ext cx="77724" cy="2066544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51683"/>
            <a:ext cx="10234879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Consolas"/>
              </a:rPr>
              <a:t>&lt;your mock prompt&gt;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Consolas"/>
              </a:rPr>
              <a:t>/agent-toolkit:software-design-document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Consolas"/>
              </a:rPr>
              <a:t>  Create detailed designs from docs/specs/.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54219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Consolas"/>
              </a:rPr>
              <a:t>→ docs/detailed-designs/  ·  HTML mocks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17515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C4, class and sequence diagrams rendered to PNG. Needs Java and PlantUML on PATH.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7:20 PM  ·  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Stand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84248"/>
            <a:ext cx="10637215" cy="11332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0" i="0">
                <a:solidFill>
                  <a:srgbClr val="16160C"/>
                </a:solidFill>
                <a:latin typeface="Segoe UI Semibold"/>
              </a:rPr>
              <a:t>15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3603650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3464966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Refill. Change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4424172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4285488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Introduce two people who have not spoken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25465"/>
            <a:ext cx="10637215" cy="463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5E5C53"/>
                </a:solidFill>
                <a:latin typeface="Segoe UI"/>
              </a:rPr>
              <a:t>Your agent is working. Let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7:35 PM  ·  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Resolve the drift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10088575" cy="583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Segoe UI"/>
              </a:rPr>
              <a:t>Your specs, designs and mocks now disagree. They always 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0540"/>
            <a:ext cx="10637215" cy="4773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6160C"/>
                </a:solidFill>
                <a:latin typeface="Segoe UI"/>
              </a:rPr>
              <a:t>Ask your agent to reconcile all three — and to report every contradiction it found.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65601"/>
            <a:ext cx="10637215" cy="1309420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365601"/>
            <a:ext cx="77724" cy="1309420"/>
          </a:xfrm>
          <a:prstGeom prst="rect">
            <a:avLst/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566769"/>
            <a:ext cx="9960559" cy="9619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160C"/>
                </a:solidFill>
                <a:latin typeface="Segoe UI"/>
              </a:rPr>
              <a:t>Do this before a single line of production code exists. It is far cheaper here than at 8:15.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064466" cy="310896"/>
          </a:xfrm>
          <a:prstGeom prst="roundRect">
            <a:avLst>
              <a:gd name="adj" fmla="val 50000"/>
            </a:avLst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6446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61162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7:45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41248"/>
            <a:ext cx="12191695" cy="91440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4000" b="1">
                <a:solidFill>
                  <a:srgbClr val="16160C"/>
                </a:solidFill>
                <a:latin typeface="Segoe UI Semibold"/>
              </a:rPr>
              <a:t>AGENT RUN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Build it — incrementally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50515"/>
            <a:ext cx="10637215" cy="917448"/>
          </a:xfrm>
          <a:prstGeom prst="rect">
            <a:avLst/>
          </a:prstGeom>
          <a:solidFill>
            <a:srgbClr val="F5F0F0"/>
          </a:solidFill>
          <a:ln w="12700">
            <a:solidFill>
              <a:srgbClr val="C6C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50515"/>
            <a:ext cx="77724" cy="917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51683"/>
            <a:ext cx="1023487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Consolas"/>
              </a:rPr>
              <a:t>failing acceptance test  →  code  →  green  → 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05123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Consolas"/>
              </a:rPr>
              <a:t>→ ATDD + Addy Osmani’s incremental implementation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68419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Segoe UI"/>
              </a:rPr>
              <a:t>One vertical slice at a time. No slice without an L2 behind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768291"/>
            <a:ext cx="10637215" cy="780288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768291"/>
            <a:ext cx="77724" cy="780288"/>
          </a:xfrm>
          <a:prstGeom prst="rect">
            <a:avLst/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969459"/>
            <a:ext cx="9960559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160C"/>
                </a:solidFill>
                <a:latin typeface="Segoe UI"/>
              </a:rPr>
              <a:t>8:00 — thirty minutes left. Stop adding. Start cutting.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528405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52840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6160C"/>
                </a:solidFill>
                <a:latin typeface="Segoe UI"/>
              </a:rPr>
              <a:t>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5101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8:10 PM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841248"/>
            <a:ext cx="12191695" cy="91440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841248"/>
            <a:ext cx="10637215" cy="914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4000" b="1">
                <a:solidFill>
                  <a:srgbClr val="16160C"/>
                </a:solidFill>
                <a:latin typeface="Segoe UI Semibold"/>
              </a:rPr>
              <a:t>AGENT RUN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Record the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750515"/>
            <a:ext cx="10637215" cy="1392936"/>
          </a:xfrm>
          <a:prstGeom prst="rect">
            <a:avLst/>
          </a:prstGeom>
          <a:solidFill>
            <a:srgbClr val="F5F0F0"/>
          </a:solidFill>
          <a:ln w="12700">
            <a:solidFill>
              <a:srgbClr val="C6C5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50515"/>
            <a:ext cx="77724" cy="1392936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951683"/>
            <a:ext cx="10234879" cy="1045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160C"/>
                </a:solidFill>
                <a:latin typeface="Consolas"/>
              </a:rPr>
              <a:t>/agent-toolkit:demo-video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6160C"/>
                </a:solidFill>
                <a:latin typeface="Consolas"/>
              </a:rPr>
              <a:t>  Create a demo video for each executable application.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80611"/>
            <a:ext cx="10637215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E5C53"/>
                </a:solidFill>
                <a:latin typeface="Consolas"/>
              </a:rPr>
              <a:t>→ docs/demo/  ·  silent continuous take, 1280×720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780483"/>
            <a:ext cx="10637215" cy="780288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780483"/>
            <a:ext cx="77724" cy="780288"/>
          </a:xfrm>
          <a:prstGeom prst="rect">
            <a:avLst/>
          </a:prstGeom>
          <a:solidFill>
            <a:srgbClr val="1D8F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981651"/>
            <a:ext cx="9960559" cy="432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160C"/>
                </a:solidFill>
                <a:latin typeface="Segoe UI"/>
              </a:rPr>
              <a:t>No running code? Run it against your mocks. Everyone still leaves with a video.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528405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52840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6160C"/>
                </a:solidFill>
                <a:latin typeface="Segoe UI"/>
              </a:rPr>
              <a:t>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5101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8:10 PM  ·  20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Write your 60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10637215" cy="4639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E5C53"/>
                </a:solidFill>
                <a:latin typeface="Segoe UI"/>
              </a:rPr>
              <a:t>While the video renders. Four lines, one speaker.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10409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10409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6160C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62456" y="2219553"/>
            <a:ext cx="10051999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The problem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811475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11475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6160C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62456" y="2820619"/>
            <a:ext cx="10051999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Who it serves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12540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1254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6160C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456" y="3421684"/>
            <a:ext cx="10051999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What you watched the agent 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13606"/>
            <a:ext cx="384048" cy="384048"/>
          </a:xfrm>
          <a:prstGeom prst="roundRect">
            <a:avLst>
              <a:gd name="adj" fmla="val 18000"/>
            </a:avLst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013606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16160C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4022750"/>
            <a:ext cx="10051999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What is next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843272"/>
            <a:ext cx="10637215" cy="818083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843272"/>
            <a:ext cx="77724" cy="818083"/>
          </a:xfrm>
          <a:prstGeom prst="rect">
            <a:avLst/>
          </a:prstGeom>
          <a:solidFill>
            <a:srgbClr val="F0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5044440"/>
            <a:ext cx="9960559" cy="470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6160C"/>
                </a:solidFill>
                <a:latin typeface="Segoe UI"/>
              </a:rPr>
              <a:t>Video files to Javier on the presenting laptop by 8:25.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1528405" cy="310896"/>
          </a:xfrm>
          <a:prstGeom prst="roundRect">
            <a:avLst>
              <a:gd name="adj" fmla="val 50000"/>
            </a:avLst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528405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6160C"/>
                </a:solidFill>
                <a:latin typeface="Segoe UI"/>
              </a:rPr>
              <a:t>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25101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8:30 PM  ·  HARD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Demos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DEMOS 8:30 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10637215" cy="6303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0" i="0">
                <a:solidFill>
                  <a:srgbClr val="16160C"/>
                </a:solidFill>
                <a:latin typeface="Segoe UI Semibold"/>
              </a:rPr>
              <a:t>3 minutes each — the video, then 30 seconds of words.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2899562"/>
            <a:ext cx="155448" cy="15544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2760878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No live coding.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610355"/>
            <a:ext cx="155448" cy="15544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3471671"/>
            <a:ext cx="10216591" cy="54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No apologies for what is not finished.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347057"/>
            <a:ext cx="10637215" cy="836980"/>
          </a:xfrm>
          <a:prstGeom prst="rect">
            <a:avLst/>
          </a:prstGeom>
          <a:solidFill>
            <a:srgbClr val="F5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347057"/>
            <a:ext cx="77724" cy="83698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4548225"/>
            <a:ext cx="9960559" cy="4895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6160C"/>
                </a:solidFill>
                <a:latin typeface="Segoe UI"/>
              </a:rPr>
              <a:t>This is Rejoice. It is the fifth R, and it is on the schedule for a reason.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800862" cy="310896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0086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7558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8:50 PM  ·  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Raffle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10637215" cy="9473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800" b="0" i="0">
                <a:solidFill>
                  <a:srgbClr val="16160C"/>
                </a:solidFill>
                <a:latin typeface="Segoe UI Semibold"/>
              </a:rPr>
              <a:t>Names out of the bowl.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80206"/>
            <a:ext cx="10637215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5E5C53"/>
                </a:solidFill>
                <a:latin typeface="Segoe UI"/>
              </a:rPr>
              <a:t>Thank you for coming, and for building.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457200"/>
            <a:ext cx="800862" cy="310896"/>
          </a:xfrm>
          <a:prstGeom prst="roundRect">
            <a:avLst>
              <a:gd name="adj" fmla="val 50000"/>
            </a:avLst>
          </a:prstGeom>
          <a:solidFill>
            <a:srgbClr val="1616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00862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7558" y="457200"/>
            <a:ext cx="4572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300" b="1">
                <a:solidFill>
                  <a:srgbClr val="5E5C53"/>
                </a:solidFill>
                <a:latin typeface="Segoe UI"/>
              </a:rPr>
              <a:t>8:55 PM  ·  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738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16160C"/>
                </a:solidFill>
                <a:latin typeface="Segoe UI Semibold"/>
              </a:rPr>
              <a:t>What’s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53328"/>
            <a:ext cx="10637215" cy="12801"/>
          </a:xfrm>
          <a:prstGeom prst="rect">
            <a:avLst/>
          </a:prstGeom>
          <a:solidFill>
            <a:srgbClr val="C6C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FAITHTECH TORONTO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8" y="2133599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1984248"/>
            <a:ext cx="10216591" cy="583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Segoe UI"/>
              </a:rPr>
              <a:t>Keep your repo alive past tonight.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3010204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7864" y="2860852"/>
            <a:ext cx="10216591" cy="583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Segoe UI"/>
              </a:rPr>
              <a:t>The next FaithTech Toronto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886809"/>
            <a:ext cx="155448" cy="155448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3737457"/>
            <a:ext cx="10216591" cy="583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6160C"/>
                </a:solidFill>
                <a:latin typeface="Segoe UI"/>
              </a:rPr>
              <a:t>Thank you, Stone Church.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815230"/>
            <a:ext cx="1645920" cy="73152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89550"/>
            <a:ext cx="10637215" cy="61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16160C"/>
                </a:solidFill>
                <a:latin typeface="Palatino Linotype"/>
              </a:rPr>
              <a:t>Closing prayer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4E0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9722815" cy="1161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0" i="1">
                <a:solidFill>
                  <a:srgbClr val="16160C"/>
                </a:solidFill>
                <a:latin typeface="Palatino Linotype"/>
              </a:rPr>
              <a:t>Build well, and rejoice.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069080"/>
            <a:ext cx="2377440" cy="91440"/>
          </a:xfrm>
          <a:prstGeom prst="rect">
            <a:avLst/>
          </a:prstGeom>
          <a:solidFill>
            <a:srgbClr val="C6F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10637215" cy="538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6160C"/>
                </a:solidFill>
                <a:latin typeface="Segoe UI"/>
              </a:rPr>
              <a:t>Take your video with you. Share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0"/>
            <a:ext cx="5486400" cy="4273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2200" b="1">
                <a:solidFill>
                  <a:srgbClr val="16160C"/>
                </a:solidFill>
                <a:latin typeface="Segoe UI Semibold"/>
              </a:rPr>
              <a:t>FAITHTECH </a:t>
            </a:r>
            <a:r>
              <a:rPr sz="2200" b="0">
                <a:solidFill>
                  <a:srgbClr val="5E5C53"/>
                </a:solidFill>
                <a:latin typeface="Segoe UI"/>
              </a:rPr>
              <a:t>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28055" y="6199632"/>
            <a:ext cx="5486400" cy="277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E5C53"/>
                </a:solidFill>
                <a:latin typeface="Segoe UI"/>
              </a:rPr>
              <a:t>9 SEPTEMBER 2026   ·   STONE CHURCH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Build Night - FaithTech Toronto</dc:title>
  <dc:subject>Participant deck, 9 September 2026, Stone Church</dc:subject>
  <dc:creator>FaithTech Toronto</dc:creator>
  <cp:keywords/>
  <dc:description>Generated by docs/build_deck.py. Edit the script and re-run; do not hand-edit this file.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